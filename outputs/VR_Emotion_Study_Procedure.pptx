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5bf76f37734f0b" /><Relationship Type="http://schemas.openxmlformats.org/officeDocument/2006/relationships/extended-properties" Target="/docProps/app.xml" Id="R779e2f40a495428d" /><Relationship Type="http://schemas.openxmlformats.org/officeDocument/2006/relationships/officeDocument" Target="/ppt/presentation.xml" Id="R140a15b7ada546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f10e89cec74de2"/>
  </p:sldMasterIdLst>
  <p:notesMasterIdLst>
    <p:notesMasterId xmlns:r="http://schemas.openxmlformats.org/officeDocument/2006/relationships" r:id="Rf3c5e478e7be4807"/>
  </p:notesMasterIdLst>
  <p:sldIdLst>
    <p:sldId xmlns:r="http://schemas.openxmlformats.org/officeDocument/2006/relationships" id="256" r:id="Re946acf1fb1d46a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789215f7e749df" /><Relationship Type="http://schemas.openxmlformats.org/officeDocument/2006/relationships/slideMaster" Target="/ppt/slideMasters/slideMaster1.xml" Id="Rf8f10e89cec74de2" /><Relationship Type="http://schemas.openxmlformats.org/officeDocument/2006/relationships/notesMaster" Target="/ppt/notesMasters/notesMaster1.xml" Id="Rf3c5e478e7be4807" /><Relationship Type="http://schemas.openxmlformats.org/officeDocument/2006/relationships/presProps" Target="/ppt/presProps.xml" Id="R302ac83b60f44cb5" /><Relationship Type="http://schemas.openxmlformats.org/officeDocument/2006/relationships/tableStyles" Target="/ppt/tableStyles.xml" Id="R3ed53bab39a54ccd" /><Relationship Type="http://schemas.openxmlformats.org/officeDocument/2006/relationships/slide" Target="/ppt/slides/slide1.xml" Id="Re946acf1fb1d46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f4d00e16e444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8ed757cd464d86" /><Relationship Type="http://schemas.openxmlformats.org/officeDocument/2006/relationships/notesMaster" Target="/ppt/notesMasters/notesMaster1.xml" Id="Rfef9f53574cc43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bbb9516f794d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80d17547424113" /><Relationship Type="http://schemas.openxmlformats.org/officeDocument/2006/relationships/slideLayout" Target="/ppt/slideLayouts/slideLayout1.xml" Id="R206b118536e14a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6b118536e14a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bbbe5057d4ba5" /><Relationship Type="http://schemas.openxmlformats.org/officeDocument/2006/relationships/notesSlide" Target="/ppt/notesSlides/notesSlide1.xml" Id="R9d3a1d25923e4f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F71A3083-0573-40FD-84FD-A3CE95F6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7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7242A"/>
                </a:solidFill>
              </a:defRPr>
            </a:pPr>
            <a:r>
              <a:rPr sz="3750" b="1">
                <a:solidFill>
                  <a:srgbClr val="17242A"/>
                </a:solidFill>
              </a:rPr>
              <a:t>VR Emotion-Induction Study Procedure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D6F9ECC-3E80-4E2D-940C-BCB0F0BF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144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52636B"/>
                </a:solidFill>
              </a:defRPr>
            </a:pPr>
            <a:r>
              <a:rPr sz="1575">
                <a:solidFill>
                  <a:srgbClr val="52636B"/>
                </a:solidFill>
              </a:rPr>
              <a:t>A repeated, context-aware avatar interaction across six randomized immersive scenes</a:t>
            </a:r>
          </a:p>
        </p:txBody>
      </p:sp>
      <p:sp>
        <p:nvSpPr>
          <p:cNvPr id="3" name="preparation-stage">
            <a:extLst xmlns:a="http://schemas.openxmlformats.org/drawingml/2006/main">
              <a:ext uri="{FF2B5EF4-FFF2-40B4-BE49-F238E27FC236}">
                <a16:creationId xmlns:a16="http://schemas.microsoft.com/office/drawing/2014/main" id="{DA42CD1A-D0FA-4524-A80B-B5D406CB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66850"/>
            <a:ext cx="45910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EAF4"/>
          </a:solidFill>
          <a:ln xmlns:a="http://schemas.openxmlformats.org/drawingml/2006/main" w="0">
            <a:solidFill>
              <a:srgbClr val="C8EA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42A"/>
                </a:solidFill>
              </a:defRPr>
            </a:pPr>
            <a:r>
              <a:rPr sz="1350" b="1">
                <a:solidFill>
                  <a:srgbClr val="17242A"/>
                </a:solidFill>
              </a:rPr>
              <a:t>Briefing &amp; Setup  ·  ~10 min</a:t>
            </a:r>
          </a:p>
        </p:txBody>
      </p:sp>
      <p:sp>
        <p:nvSpPr>
          <p:cNvPr id="4" name="experiment-stage">
            <a:extLst xmlns:a="http://schemas.openxmlformats.org/drawingml/2006/main">
              <a:ext uri="{FF2B5EF4-FFF2-40B4-BE49-F238E27FC236}">
                <a16:creationId xmlns:a16="http://schemas.microsoft.com/office/drawing/2014/main" id="{06FC16FF-A685-4C76-A616-05548E63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66850"/>
            <a:ext cx="56388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7D4C8"/>
          </a:solidFill>
          <a:ln xmlns:a="http://schemas.openxmlformats.org/drawingml/2006/main" w="0">
            <a:solidFill>
              <a:srgbClr val="F7D4C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42A"/>
                </a:solidFill>
              </a:defRPr>
            </a:pPr>
            <a:r>
              <a:rPr sz="1350" b="1">
                <a:solidFill>
                  <a:srgbClr val="17242A"/>
                </a:solidFill>
              </a:rPr>
              <a:t>Immersive Experiment  ·  6 scenes / ~30 min</a:t>
            </a:r>
          </a:p>
        </p:txBody>
      </p:sp>
      <p:sp>
        <p:nvSpPr>
          <p:cNvPr id="5" name="completion-stage">
            <a:extLst xmlns:a="http://schemas.openxmlformats.org/drawingml/2006/main">
              <a:ext uri="{FF2B5EF4-FFF2-40B4-BE49-F238E27FC236}">
                <a16:creationId xmlns:a16="http://schemas.microsoft.com/office/drawing/2014/main" id="{C27CE40F-4800-49CB-9362-58A2EC0D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466850"/>
            <a:ext cx="15811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EAF4"/>
          </a:solidFill>
          <a:ln xmlns:a="http://schemas.openxmlformats.org/drawingml/2006/main" w="0">
            <a:solidFill>
              <a:srgbClr val="C8EA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42A"/>
                </a:solidFill>
              </a:defRPr>
            </a:pPr>
            <a:r>
              <a:rPr sz="1200" b="1">
                <a:solidFill>
                  <a:srgbClr val="17242A"/>
                </a:solidFill>
              </a:rPr>
              <a:t>Debrief  ·  10 min</a:t>
            </a:r>
          </a:p>
        </p:txBody>
      </p:sp>
      <p:sp>
        <p:nvSpPr>
          <p:cNvPr id="6" name="arrow-1">
            <a:extLst xmlns:a="http://schemas.openxmlformats.org/drawingml/2006/main">
              <a:ext uri="{FF2B5EF4-FFF2-40B4-BE49-F238E27FC236}">
                <a16:creationId xmlns:a16="http://schemas.microsoft.com/office/drawing/2014/main" id="{FAC4A4A4-2460-4D4B-ACD4-9980E575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9900"/>
            <a:ext cx="2667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42A"/>
          </a:solidFill>
          <a:ln xmlns:a="http://schemas.openxmlformats.org/drawingml/2006/main" w="0">
            <a:solidFill>
              <a:srgbClr val="17242A"/>
            </a:solidFill>
            <a:prstDash val="solid"/>
          </a:ln>
        </p:spPr>
      </p:sp>
      <p:sp>
        <p:nvSpPr>
          <p:cNvPr id="7" name="arrow-2">
            <a:extLst xmlns:a="http://schemas.openxmlformats.org/drawingml/2006/main">
              <a:ext uri="{FF2B5EF4-FFF2-40B4-BE49-F238E27FC236}">
                <a16:creationId xmlns:a16="http://schemas.microsoft.com/office/drawing/2014/main" id="{B2EA649D-696C-4C4B-B29E-BC052369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09900"/>
            <a:ext cx="2667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42A"/>
          </a:solidFill>
          <a:ln xmlns:a="http://schemas.openxmlformats.org/drawingml/2006/main" w="0">
            <a:solidFill>
              <a:srgbClr val="17242A"/>
            </a:solidFill>
            <a:prstDash val="solid"/>
          </a:ln>
        </p:spPr>
      </p:sp>
      <p:sp>
        <p:nvSpPr>
          <p:cNvPr id="8" name="arrow-3">
            <a:extLst xmlns:a="http://schemas.openxmlformats.org/drawingml/2006/main">
              <a:ext uri="{FF2B5EF4-FFF2-40B4-BE49-F238E27FC236}">
                <a16:creationId xmlns:a16="http://schemas.microsoft.com/office/drawing/2014/main" id="{31A0D568-3243-4993-B530-9E835BBC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09900"/>
            <a:ext cx="2667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42A"/>
          </a:solidFill>
          <a:ln xmlns:a="http://schemas.openxmlformats.org/drawingml/2006/main" w="0">
            <a:solidFill>
              <a:srgbClr val="17242A"/>
            </a:solidFill>
            <a:prstDash val="solid"/>
          </a:ln>
        </p:spPr>
      </p:sp>
      <p:sp>
        <p:nvSpPr>
          <p:cNvPr id="9" name="arrow-4">
            <a:extLst xmlns:a="http://schemas.openxmlformats.org/drawingml/2006/main">
              <a:ext uri="{FF2B5EF4-FFF2-40B4-BE49-F238E27FC236}">
                <a16:creationId xmlns:a16="http://schemas.microsoft.com/office/drawing/2014/main" id="{822C9814-83A0-4F47-8BDF-1E2E04CE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9900"/>
            <a:ext cx="2667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42A"/>
          </a:solidFill>
          <a:ln xmlns:a="http://schemas.openxmlformats.org/drawingml/2006/main" w="0">
            <a:solidFill>
              <a:srgbClr val="17242A"/>
            </a:solidFill>
            <a:prstDash val="solid"/>
          </a:ln>
        </p:spPr>
      </p:sp>
      <p:sp>
        <p:nvSpPr>
          <p:cNvPr id="10" name="arrow-5">
            <a:extLst xmlns:a="http://schemas.openxmlformats.org/drawingml/2006/main">
              <a:ext uri="{FF2B5EF4-FFF2-40B4-BE49-F238E27FC236}">
                <a16:creationId xmlns:a16="http://schemas.microsoft.com/office/drawing/2014/main" id="{CB42F7C4-1034-43AD-84AE-8BFAACA8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09900"/>
            <a:ext cx="3810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42A"/>
          </a:solidFill>
          <a:ln xmlns:a="http://schemas.openxmlformats.org/drawingml/2006/main" w="0">
            <a:solidFill>
              <a:srgbClr val="17242A"/>
            </a:solidFill>
            <a:prstDash val="solid"/>
          </a:ln>
        </p:spPr>
      </p:sp>
      <p:sp>
        <p:nvSpPr>
          <p:cNvPr id="11" name="arrow-6">
            <a:extLst xmlns:a="http://schemas.openxmlformats.org/drawingml/2006/main">
              <a:ext uri="{FF2B5EF4-FFF2-40B4-BE49-F238E27FC236}">
                <a16:creationId xmlns:a16="http://schemas.microsoft.com/office/drawing/2014/main" id="{6DC0F417-5D77-49E0-AE17-090E8839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09900"/>
            <a:ext cx="3048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42A"/>
          </a:solidFill>
          <a:ln xmlns:a="http://schemas.openxmlformats.org/drawingml/2006/main" w="0">
            <a:solidFill>
              <a:srgbClr val="17242A"/>
            </a:solidFill>
            <a:prstDash val="solid"/>
          </a:ln>
        </p:spPr>
      </p:sp>
      <p:sp>
        <p:nvSpPr>
          <p:cNvPr id="12" name="arrow-7">
            <a:extLst xmlns:a="http://schemas.openxmlformats.org/drawingml/2006/main">
              <a:ext uri="{FF2B5EF4-FFF2-40B4-BE49-F238E27FC236}">
                <a16:creationId xmlns:a16="http://schemas.microsoft.com/office/drawing/2014/main" id="{9B57D775-A4A4-422D-B82A-97FFEF35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09900"/>
            <a:ext cx="3048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42A"/>
          </a:solidFill>
          <a:ln xmlns:a="http://schemas.openxmlformats.org/drawingml/2006/main" w="0">
            <a:solidFill>
              <a:srgbClr val="17242A"/>
            </a:solidFill>
            <a:prstDash val="solid"/>
          </a:ln>
        </p:spPr>
      </p:sp>
      <p:sp>
        <p:nvSpPr>
          <p:cNvPr id="13" name="arrow-8">
            <a:extLst xmlns:a="http://schemas.openxmlformats.org/drawingml/2006/main">
              <a:ext uri="{FF2B5EF4-FFF2-40B4-BE49-F238E27FC236}">
                <a16:creationId xmlns:a16="http://schemas.microsoft.com/office/drawing/2014/main" id="{85F7782B-BF38-4560-9AC2-E57044DD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09900"/>
            <a:ext cx="3048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42A"/>
          </a:solidFill>
          <a:ln xmlns:a="http://schemas.openxmlformats.org/drawingml/2006/main" w="0">
            <a:solidFill>
              <a:srgbClr val="17242A"/>
            </a:solidFill>
            <a:prstDash val="solid"/>
          </a:ln>
        </p:spPr>
      </p:sp>
      <p:sp>
        <p:nvSpPr>
          <p:cNvPr id="14" name="arrow-9">
            <a:extLst xmlns:a="http://schemas.openxmlformats.org/drawingml/2006/main">
              <a:ext uri="{FF2B5EF4-FFF2-40B4-BE49-F238E27FC236}">
                <a16:creationId xmlns:a16="http://schemas.microsoft.com/office/drawing/2014/main" id="{4B3DFCC4-0BCA-4116-A542-EF98996F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09900"/>
            <a:ext cx="3048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42A"/>
          </a:solidFill>
          <a:ln xmlns:a="http://schemas.openxmlformats.org/drawingml/2006/main" w="0">
            <a:solidFill>
              <a:srgbClr val="17242A"/>
            </a:solidFill>
            <a:prstDash val="solid"/>
          </a:ln>
        </p:spPr>
      </p:sp>
      <p:sp>
        <p:nvSpPr>
          <p:cNvPr id="15" name="arrow-10">
            <a:extLst xmlns:a="http://schemas.openxmlformats.org/drawingml/2006/main">
              <a:ext uri="{FF2B5EF4-FFF2-40B4-BE49-F238E27FC236}">
                <a16:creationId xmlns:a16="http://schemas.microsoft.com/office/drawing/2014/main" id="{EB09C06E-E4A9-4158-BAD9-5F893A70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09900"/>
            <a:ext cx="3048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42A"/>
          </a:solidFill>
          <a:ln xmlns:a="http://schemas.openxmlformats.org/drawingml/2006/main" w="0">
            <a:solidFill>
              <a:srgbClr val="17242A"/>
            </a:solidFill>
            <a:prstDash val="solid"/>
          </a:ln>
        </p:spPr>
      </p:sp>
      <p:sp>
        <p:nvSpPr>
          <p:cNvPr id="16" name="arrow-11">
            <a:extLst xmlns:a="http://schemas.openxmlformats.org/drawingml/2006/main">
              <a:ext uri="{FF2B5EF4-FFF2-40B4-BE49-F238E27FC236}">
                <a16:creationId xmlns:a16="http://schemas.microsoft.com/office/drawing/2014/main" id="{CDA88144-8827-4E0A-8C6B-7A3CC281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009900"/>
            <a:ext cx="4953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42A"/>
          </a:solidFill>
          <a:ln xmlns:a="http://schemas.openxmlformats.org/drawingml/2006/main" w="0">
            <a:solidFill>
              <a:srgbClr val="17242A"/>
            </a:solidFill>
            <a:prstDash val="solid"/>
          </a:ln>
        </p:spPr>
      </p:sp>
      <p:sp>
        <p:nvSpPr>
          <p:cNvPr id="17" name="intro-icon">
            <a:extLst xmlns:a="http://schemas.openxmlformats.org/drawingml/2006/main">
              <a:ext uri="{FF2B5EF4-FFF2-40B4-BE49-F238E27FC236}">
                <a16:creationId xmlns:a16="http://schemas.microsoft.com/office/drawing/2014/main" id="{B063CC52-3086-4075-821E-5E5757A4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81300"/>
            <a:ext cx="571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7242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42A"/>
                </a:solidFill>
              </a:defRPr>
            </a:pPr>
            <a:r>
              <a:rPr sz="1575" b="1">
                <a:solidFill>
                  <a:srgbClr val="17242A"/>
                </a:solidFill>
              </a:rPr>
              <a:t>HI</a:t>
            </a:r>
          </a:p>
        </p:txBody>
      </p:sp>
      <p:sp>
        <p:nvSpPr>
          <p:cNvPr id="18" name="intro-label">
            <a:extLst xmlns:a="http://schemas.openxmlformats.org/drawingml/2006/main">
              <a:ext uri="{FF2B5EF4-FFF2-40B4-BE49-F238E27FC236}">
                <a16:creationId xmlns:a16="http://schemas.microsoft.com/office/drawing/2014/main" id="{4F1F90E8-2669-4784-A574-1BAF60F0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3448050"/>
            <a:ext cx="971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42A"/>
                </a:solidFill>
              </a:defRPr>
            </a:pPr>
            <a:r>
              <a:rPr sz="1275" b="1">
                <a:solidFill>
                  <a:srgbClr val="17242A"/>
                </a:solidFill>
              </a:rPr>
              <a:t>Intro</a:t>
            </a:r>
          </a:p>
        </p:txBody>
      </p:sp>
      <p:sp>
        <p:nvSpPr>
          <p:cNvPr id="19" name="consent-icon">
            <a:extLst xmlns:a="http://schemas.openxmlformats.org/drawingml/2006/main">
              <a:ext uri="{FF2B5EF4-FFF2-40B4-BE49-F238E27FC236}">
                <a16:creationId xmlns:a16="http://schemas.microsoft.com/office/drawing/2014/main" id="{B7884907-F731-48D8-80F1-D235621F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81300"/>
            <a:ext cx="571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7242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42A"/>
                </a:solidFill>
              </a:defRPr>
            </a:pPr>
            <a:r>
              <a:rPr sz="2175" b="1">
                <a:solidFill>
                  <a:srgbClr val="17242A"/>
                </a:solidFill>
              </a:rPr>
              <a:t>✓</a:t>
            </a:r>
          </a:p>
        </p:txBody>
      </p:sp>
      <p:sp>
        <p:nvSpPr>
          <p:cNvPr id="20" name="consent-label">
            <a:extLst xmlns:a="http://schemas.openxmlformats.org/drawingml/2006/main">
              <a:ext uri="{FF2B5EF4-FFF2-40B4-BE49-F238E27FC236}">
                <a16:creationId xmlns:a16="http://schemas.microsoft.com/office/drawing/2014/main" id="{DCC6C56C-3BDE-4898-98A6-B95A179E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448050"/>
            <a:ext cx="971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42A"/>
                </a:solidFill>
              </a:defRPr>
            </a:pPr>
            <a:r>
              <a:rPr sz="1275" b="1">
                <a:solidFill>
                  <a:srgbClr val="17242A"/>
                </a:solidFill>
              </a:rPr>
              <a:t>Consent</a:t>
            </a:r>
          </a:p>
        </p:txBody>
      </p:sp>
      <p:sp>
        <p:nvSpPr>
          <p:cNvPr id="21" name="preq-icon">
            <a:extLst xmlns:a="http://schemas.openxmlformats.org/drawingml/2006/main">
              <a:ext uri="{FF2B5EF4-FFF2-40B4-BE49-F238E27FC236}">
                <a16:creationId xmlns:a16="http://schemas.microsoft.com/office/drawing/2014/main" id="{CE5C7407-BF5B-4F8A-9B65-8C487CF5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81300"/>
            <a:ext cx="571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7242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42A"/>
                </a:solidFill>
              </a:defRPr>
            </a:pPr>
            <a:r>
              <a:rPr sz="1950" b="1">
                <a:solidFill>
                  <a:srgbClr val="17242A"/>
                </a:solidFill>
              </a:rPr>
              <a:t>Q</a:t>
            </a:r>
          </a:p>
        </p:txBody>
      </p:sp>
      <p:sp>
        <p:nvSpPr>
          <p:cNvPr id="22" name="preq-label">
            <a:extLst xmlns:a="http://schemas.openxmlformats.org/drawingml/2006/main">
              <a:ext uri="{FF2B5EF4-FFF2-40B4-BE49-F238E27FC236}">
                <a16:creationId xmlns:a16="http://schemas.microsoft.com/office/drawing/2014/main" id="{1A82FEB2-1618-4FA2-AF0D-05FBDA67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448050"/>
            <a:ext cx="971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42A"/>
                </a:solidFill>
              </a:defRPr>
            </a:pPr>
            <a:r>
              <a:rPr sz="1275" b="1">
                <a:solidFill>
                  <a:srgbClr val="17242A"/>
                </a:solidFill>
              </a:rPr>
              <a:t>Pre-study</a:t>
            </a:r>
          </a:p>
          <a:p xmlns:a="http://schemas.openxmlformats.org/drawingml/2006/main">
            <a:pPr algn="ctr">
              <a:defRPr sz="1275" b="1">
                <a:solidFill>
                  <a:srgbClr val="17242A"/>
                </a:solidFill>
              </a:defRPr>
            </a:pPr>
            <a:r>
              <a:rPr sz="1275" b="1">
                <a:solidFill>
                  <a:srgbClr val="17242A"/>
                </a:solidFill>
              </a:rPr>
              <a:t>Survey</a:t>
            </a:r>
          </a:p>
        </p:txBody>
      </p:sp>
      <p:sp>
        <p:nvSpPr>
          <p:cNvPr id="23" name="tutorial-icon">
            <a:extLst xmlns:a="http://schemas.openxmlformats.org/drawingml/2006/main">
              <a:ext uri="{FF2B5EF4-FFF2-40B4-BE49-F238E27FC236}">
                <a16:creationId xmlns:a16="http://schemas.microsoft.com/office/drawing/2014/main" id="{CFA9742E-4DB4-4FD6-B6BE-075C7BCA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81300"/>
            <a:ext cx="571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7242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42A"/>
                </a:solidFill>
              </a:defRPr>
            </a:pPr>
            <a:r>
              <a:rPr sz="1575" b="1">
                <a:solidFill>
                  <a:srgbClr val="17242A"/>
                </a:solidFill>
              </a:rPr>
              <a:t>VR</a:t>
            </a:r>
          </a:p>
        </p:txBody>
      </p:sp>
      <p:sp>
        <p:nvSpPr>
          <p:cNvPr id="24" name="tutorial-label">
            <a:extLst xmlns:a="http://schemas.openxmlformats.org/drawingml/2006/main">
              <a:ext uri="{FF2B5EF4-FFF2-40B4-BE49-F238E27FC236}">
                <a16:creationId xmlns:a16="http://schemas.microsoft.com/office/drawing/2014/main" id="{72154F04-54D5-48D0-B473-93A2EE9D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48050"/>
            <a:ext cx="971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42A"/>
                </a:solidFill>
              </a:defRPr>
            </a:pPr>
            <a:r>
              <a:rPr sz="1275" b="1">
                <a:solidFill>
                  <a:srgbClr val="17242A"/>
                </a:solidFill>
              </a:rPr>
              <a:t>Tutorial</a:t>
            </a:r>
          </a:p>
        </p:txBody>
      </p:sp>
      <p:sp>
        <p:nvSpPr>
          <p:cNvPr id="25" name="baseline-icon">
            <a:extLst xmlns:a="http://schemas.openxmlformats.org/drawingml/2006/main">
              <a:ext uri="{FF2B5EF4-FFF2-40B4-BE49-F238E27FC236}">
                <a16:creationId xmlns:a16="http://schemas.microsoft.com/office/drawing/2014/main" id="{B8B8DA2F-0629-456B-96FB-2646E76A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81300"/>
            <a:ext cx="571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7242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42A"/>
                </a:solidFill>
              </a:defRPr>
            </a:pPr>
            <a:r>
              <a:rPr sz="1275" b="1">
                <a:solidFill>
                  <a:srgbClr val="17242A"/>
                </a:solidFill>
              </a:rPr>
              <a:t>SAM</a:t>
            </a:r>
          </a:p>
        </p:txBody>
      </p:sp>
      <p:sp>
        <p:nvSpPr>
          <p:cNvPr id="26" name="baseline-label">
            <a:extLst xmlns:a="http://schemas.openxmlformats.org/drawingml/2006/main">
              <a:ext uri="{FF2B5EF4-FFF2-40B4-BE49-F238E27FC236}">
                <a16:creationId xmlns:a16="http://schemas.microsoft.com/office/drawing/2014/main" id="{0789B730-29F0-4DBE-BDB1-EB5CB49C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448050"/>
            <a:ext cx="971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42A"/>
                </a:solidFill>
              </a:defRPr>
            </a:pPr>
            <a:r>
              <a:rPr sz="1275" b="1">
                <a:solidFill>
                  <a:srgbClr val="17242A"/>
                </a:solidFill>
              </a:rPr>
              <a:t>Baseline</a:t>
            </a:r>
          </a:p>
          <a:p xmlns:a="http://schemas.openxmlformats.org/drawingml/2006/main">
            <a:pPr algn="ctr">
              <a:defRPr sz="1275" b="1">
                <a:solidFill>
                  <a:srgbClr val="17242A"/>
                </a:solidFill>
              </a:defRPr>
            </a:pPr>
            <a:r>
              <a:rPr sz="1275" b="1">
                <a:solidFill>
                  <a:srgbClr val="17242A"/>
                </a:solidFill>
              </a:rPr>
              <a:t>SAM</a:t>
            </a:r>
          </a:p>
        </p:txBody>
      </p:sp>
      <p:sp>
        <p:nvSpPr>
          <p:cNvPr id="27" name="scene-icon">
            <a:extLst xmlns:a="http://schemas.openxmlformats.org/drawingml/2006/main">
              <a:ext uri="{FF2B5EF4-FFF2-40B4-BE49-F238E27FC236}">
                <a16:creationId xmlns:a16="http://schemas.microsoft.com/office/drawing/2014/main" id="{70920F5F-095B-42C7-A58F-8BEDF9BF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81300"/>
            <a:ext cx="571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7F3"/>
          </a:solidFill>
          <a:ln xmlns:a="http://schemas.openxmlformats.org/drawingml/2006/main" w="20955">
            <a:solidFill>
              <a:srgbClr val="17242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42A"/>
                </a:solidFill>
              </a:defRPr>
            </a:pPr>
            <a:r>
              <a:rPr sz="1350" b="1">
                <a:solidFill>
                  <a:srgbClr val="17242A"/>
                </a:solidFill>
              </a:rPr>
              <a:t>360°</a:t>
            </a:r>
          </a:p>
        </p:txBody>
      </p:sp>
      <p:sp>
        <p:nvSpPr>
          <p:cNvPr id="28" name="scene-label">
            <a:extLst xmlns:a="http://schemas.openxmlformats.org/drawingml/2006/main">
              <a:ext uri="{FF2B5EF4-FFF2-40B4-BE49-F238E27FC236}">
                <a16:creationId xmlns:a16="http://schemas.microsoft.com/office/drawing/2014/main" id="{0D3AF035-9BA0-4D85-A9C8-27DDBE2E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448050"/>
            <a:ext cx="971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42A"/>
                </a:solidFill>
              </a:defRPr>
            </a:pPr>
            <a:r>
              <a:rPr sz="1275" b="1">
                <a:solidFill>
                  <a:srgbClr val="17242A"/>
                </a:solidFill>
              </a:rPr>
              <a:t>Random VR</a:t>
            </a:r>
          </a:p>
          <a:p xmlns:a="http://schemas.openxmlformats.org/drawingml/2006/main">
            <a:pPr algn="ctr">
              <a:defRPr sz="1275" b="1">
                <a:solidFill>
                  <a:srgbClr val="17242A"/>
                </a:solidFill>
              </a:defRPr>
            </a:pPr>
            <a:r>
              <a:rPr sz="1275" b="1">
                <a:solidFill>
                  <a:srgbClr val="17242A"/>
                </a:solidFill>
              </a:rPr>
              <a:t>Scene</a:t>
            </a:r>
          </a:p>
        </p:txBody>
      </p:sp>
      <p:sp>
        <p:nvSpPr>
          <p:cNvPr id="29" name="avatar-icon">
            <a:extLst xmlns:a="http://schemas.openxmlformats.org/drawingml/2006/main">
              <a:ext uri="{FF2B5EF4-FFF2-40B4-BE49-F238E27FC236}">
                <a16:creationId xmlns:a16="http://schemas.microsoft.com/office/drawing/2014/main" id="{E733339A-1D73-43A2-9C78-8A210118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571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9"/>
          </a:solidFill>
          <a:ln xmlns:a="http://schemas.openxmlformats.org/drawingml/2006/main" w="20955">
            <a:solidFill>
              <a:srgbClr val="17242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42A"/>
                </a:solidFill>
              </a:defRPr>
            </a:pPr>
            <a:r>
              <a:rPr sz="1350" b="1">
                <a:solidFill>
                  <a:srgbClr val="17242A"/>
                </a:solidFill>
              </a:rPr>
              <a:t>W/C</a:t>
            </a:r>
          </a:p>
        </p:txBody>
      </p:sp>
      <p:sp>
        <p:nvSpPr>
          <p:cNvPr id="30" name="avatar-label">
            <a:extLst xmlns:a="http://schemas.openxmlformats.org/drawingml/2006/main">
              <a:ext uri="{FF2B5EF4-FFF2-40B4-BE49-F238E27FC236}">
                <a16:creationId xmlns:a16="http://schemas.microsoft.com/office/drawing/2014/main" id="{715F24C1-7653-4948-9E14-4EEB5F66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448050"/>
            <a:ext cx="971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42A"/>
                </a:solidFill>
              </a:defRPr>
            </a:pPr>
            <a:r>
              <a:rPr sz="1275" b="1">
                <a:solidFill>
                  <a:srgbClr val="17242A"/>
                </a:solidFill>
              </a:rPr>
              <a:t>Warm / Cold</a:t>
            </a:r>
          </a:p>
          <a:p xmlns:a="http://schemas.openxmlformats.org/drawingml/2006/main">
            <a:pPr algn="ctr">
              <a:defRPr sz="1275" b="1">
                <a:solidFill>
                  <a:srgbClr val="17242A"/>
                </a:solidFill>
              </a:defRPr>
            </a:pPr>
            <a:r>
              <a:rPr sz="1275" b="1">
                <a:solidFill>
                  <a:srgbClr val="17242A"/>
                </a:solidFill>
              </a:rPr>
              <a:t>Avatar</a:t>
            </a:r>
          </a:p>
        </p:txBody>
      </p:sp>
      <p:sp>
        <p:nvSpPr>
          <p:cNvPr id="31" name="task-icon">
            <a:extLst xmlns:a="http://schemas.openxmlformats.org/drawingml/2006/main">
              <a:ext uri="{FF2B5EF4-FFF2-40B4-BE49-F238E27FC236}">
                <a16:creationId xmlns:a16="http://schemas.microsoft.com/office/drawing/2014/main" id="{B9B4B4A5-CB4B-4481-A35C-687A9FFB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81300"/>
            <a:ext cx="571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7D8"/>
          </a:solidFill>
          <a:ln xmlns:a="http://schemas.openxmlformats.org/drawingml/2006/main" w="20955">
            <a:solidFill>
              <a:srgbClr val="17242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42A"/>
                </a:solidFill>
              </a:defRPr>
            </a:pPr>
            <a:r>
              <a:rPr sz="1125" b="1">
                <a:solidFill>
                  <a:srgbClr val="17242A"/>
                </a:solidFill>
              </a:rPr>
              <a:t>TASK</a:t>
            </a:r>
          </a:p>
        </p:txBody>
      </p:sp>
      <p:sp>
        <p:nvSpPr>
          <p:cNvPr id="32" name="task-label">
            <a:extLst xmlns:a="http://schemas.openxmlformats.org/drawingml/2006/main">
              <a:ext uri="{FF2B5EF4-FFF2-40B4-BE49-F238E27FC236}">
                <a16:creationId xmlns:a16="http://schemas.microsoft.com/office/drawing/2014/main" id="{74AC6DBB-CD5A-42A6-ACDD-7835F531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448050"/>
            <a:ext cx="971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42A"/>
                </a:solidFill>
              </a:defRPr>
            </a:pPr>
            <a:r>
              <a:rPr sz="1275" b="1">
                <a:solidFill>
                  <a:srgbClr val="17242A"/>
                </a:solidFill>
              </a:rPr>
              <a:t>Highlighted Task</a:t>
            </a:r>
          </a:p>
          <a:p xmlns:a="http://schemas.openxmlformats.org/drawingml/2006/main">
            <a:pPr algn="ctr">
              <a:defRPr sz="1275" b="1">
                <a:solidFill>
                  <a:srgbClr val="17242A"/>
                </a:solidFill>
              </a:defRPr>
            </a:pPr>
            <a:r>
              <a:rPr sz="1275" b="1">
                <a:solidFill>
                  <a:srgbClr val="17242A"/>
                </a:solidFill>
              </a:rPr>
              <a:t>+ Dialogue</a:t>
            </a:r>
          </a:p>
        </p:txBody>
      </p:sp>
      <p:sp>
        <p:nvSpPr>
          <p:cNvPr id="33" name="postsam-icon">
            <a:extLst xmlns:a="http://schemas.openxmlformats.org/drawingml/2006/main">
              <a:ext uri="{FF2B5EF4-FFF2-40B4-BE49-F238E27FC236}">
                <a16:creationId xmlns:a16="http://schemas.microsoft.com/office/drawing/2014/main" id="{45236EFB-87F9-4DDE-8AD9-FC997DC5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81300"/>
            <a:ext cx="571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8FB"/>
          </a:solidFill>
          <a:ln xmlns:a="http://schemas.openxmlformats.org/drawingml/2006/main" w="20955">
            <a:solidFill>
              <a:srgbClr val="17242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42A"/>
                </a:solidFill>
              </a:defRPr>
            </a:pPr>
            <a:r>
              <a:rPr sz="1275" b="1">
                <a:solidFill>
                  <a:srgbClr val="17242A"/>
                </a:solidFill>
              </a:rPr>
              <a:t>SAM</a:t>
            </a:r>
          </a:p>
        </p:txBody>
      </p:sp>
      <p:sp>
        <p:nvSpPr>
          <p:cNvPr id="34" name="postsam-label">
            <a:extLst xmlns:a="http://schemas.openxmlformats.org/drawingml/2006/main">
              <a:ext uri="{FF2B5EF4-FFF2-40B4-BE49-F238E27FC236}">
                <a16:creationId xmlns:a16="http://schemas.microsoft.com/office/drawing/2014/main" id="{65A42C80-7348-4A4A-9958-C9D529EB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448050"/>
            <a:ext cx="971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42A"/>
                </a:solidFill>
              </a:defRPr>
            </a:pPr>
            <a:r>
              <a:rPr sz="1275" b="1">
                <a:solidFill>
                  <a:srgbClr val="17242A"/>
                </a:solidFill>
              </a:rPr>
              <a:t>Post-scene</a:t>
            </a:r>
          </a:p>
          <a:p xmlns:a="http://schemas.openxmlformats.org/drawingml/2006/main">
            <a:pPr algn="ctr">
              <a:defRPr sz="1275" b="1">
                <a:solidFill>
                  <a:srgbClr val="17242A"/>
                </a:solidFill>
              </a:defRPr>
            </a:pPr>
            <a:r>
              <a:rPr sz="1275" b="1">
                <a:solidFill>
                  <a:srgbClr val="17242A"/>
                </a:solidFill>
              </a:rPr>
              <a:t>SAM</a:t>
            </a:r>
          </a:p>
        </p:txBody>
      </p:sp>
      <p:sp>
        <p:nvSpPr>
          <p:cNvPr id="35" name="avatarq-icon">
            <a:extLst xmlns:a="http://schemas.openxmlformats.org/drawingml/2006/main">
              <a:ext uri="{FF2B5EF4-FFF2-40B4-BE49-F238E27FC236}">
                <a16:creationId xmlns:a16="http://schemas.microsoft.com/office/drawing/2014/main" id="{B20A32E3-1822-45EC-8AAD-BA73FB15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571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8FB"/>
          </a:solidFill>
          <a:ln xmlns:a="http://schemas.openxmlformats.org/drawingml/2006/main" w="20955">
            <a:solidFill>
              <a:srgbClr val="17242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42A"/>
                </a:solidFill>
              </a:defRPr>
            </a:pPr>
            <a:r>
              <a:rPr sz="1500" b="1">
                <a:solidFill>
                  <a:srgbClr val="17242A"/>
                </a:solidFill>
              </a:rPr>
              <a:t>AQ</a:t>
            </a:r>
          </a:p>
        </p:txBody>
      </p:sp>
      <p:sp>
        <p:nvSpPr>
          <p:cNvPr id="36" name="avatarq-label">
            <a:extLst xmlns:a="http://schemas.openxmlformats.org/drawingml/2006/main">
              <a:ext uri="{FF2B5EF4-FFF2-40B4-BE49-F238E27FC236}">
                <a16:creationId xmlns:a16="http://schemas.microsoft.com/office/drawing/2014/main" id="{6458DD8F-1E46-4EF5-A07F-602F1273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448050"/>
            <a:ext cx="971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42A"/>
                </a:solidFill>
              </a:defRPr>
            </a:pPr>
            <a:r>
              <a:rPr sz="1275" b="1">
                <a:solidFill>
                  <a:srgbClr val="17242A"/>
                </a:solidFill>
              </a:rPr>
              <a:t>Avatar</a:t>
            </a:r>
          </a:p>
          <a:p xmlns:a="http://schemas.openxmlformats.org/drawingml/2006/main">
            <a:pPr algn="ctr">
              <a:defRPr sz="1275" b="1">
                <a:solidFill>
                  <a:srgbClr val="17242A"/>
                </a:solidFill>
              </a:defRPr>
            </a:pPr>
            <a:r>
              <a:rPr sz="1275" b="1">
                <a:solidFill>
                  <a:srgbClr val="17242A"/>
                </a:solidFill>
              </a:rPr>
              <a:t>Survey</a:t>
            </a:r>
          </a:p>
        </p:txBody>
      </p:sp>
      <p:sp>
        <p:nvSpPr>
          <p:cNvPr id="37" name="repeat-icon">
            <a:extLst xmlns:a="http://schemas.openxmlformats.org/drawingml/2006/main">
              <a:ext uri="{FF2B5EF4-FFF2-40B4-BE49-F238E27FC236}">
                <a16:creationId xmlns:a16="http://schemas.microsoft.com/office/drawing/2014/main" id="{79DB50A8-D4AB-4646-92FC-B776822A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81300"/>
            <a:ext cx="571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D4C8"/>
          </a:solidFill>
          <a:ln xmlns:a="http://schemas.openxmlformats.org/drawingml/2006/main" w="20955">
            <a:solidFill>
              <a:srgbClr val="17242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42A"/>
                </a:solidFill>
              </a:defRPr>
            </a:pPr>
            <a:r>
              <a:rPr sz="1800" b="1">
                <a:solidFill>
                  <a:srgbClr val="17242A"/>
                </a:solidFill>
              </a:rPr>
              <a:t>×6</a:t>
            </a:r>
          </a:p>
        </p:txBody>
      </p:sp>
      <p:sp>
        <p:nvSpPr>
          <p:cNvPr id="38" name="repeat-label">
            <a:extLst xmlns:a="http://schemas.openxmlformats.org/drawingml/2006/main">
              <a:ext uri="{FF2B5EF4-FFF2-40B4-BE49-F238E27FC236}">
                <a16:creationId xmlns:a16="http://schemas.microsoft.com/office/drawing/2014/main" id="{00704849-BA2F-463C-8634-5B59FCDB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448050"/>
            <a:ext cx="971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42A"/>
                </a:solidFill>
              </a:defRPr>
            </a:pPr>
            <a:r>
              <a:rPr sz="1275" b="1">
                <a:solidFill>
                  <a:srgbClr val="17242A"/>
                </a:solidFill>
              </a:rPr>
              <a:t>Repeat</a:t>
            </a:r>
          </a:p>
          <a:p xmlns:a="http://schemas.openxmlformats.org/drawingml/2006/main">
            <a:pPr algn="ctr">
              <a:defRPr sz="1275" b="1">
                <a:solidFill>
                  <a:srgbClr val="17242A"/>
                </a:solidFill>
              </a:defRPr>
            </a:pPr>
            <a:r>
              <a:rPr sz="1275" b="1">
                <a:solidFill>
                  <a:srgbClr val="17242A"/>
                </a:solidFill>
              </a:rPr>
              <a:t>×6</a:t>
            </a:r>
          </a:p>
        </p:txBody>
      </p:sp>
      <p:sp>
        <p:nvSpPr>
          <p:cNvPr id="39" name="finish-icon">
            <a:extLst xmlns:a="http://schemas.openxmlformats.org/drawingml/2006/main">
              <a:ext uri="{FF2B5EF4-FFF2-40B4-BE49-F238E27FC236}">
                <a16:creationId xmlns:a16="http://schemas.microsoft.com/office/drawing/2014/main" id="{470BDDBC-606F-420E-AC1E-E379917D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781300"/>
            <a:ext cx="571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7FA"/>
          </a:solidFill>
          <a:ln xmlns:a="http://schemas.openxmlformats.org/drawingml/2006/main" w="20955">
            <a:solidFill>
              <a:srgbClr val="17242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42A"/>
                </a:solidFill>
              </a:defRPr>
            </a:pPr>
            <a:r>
              <a:rPr sz="2175" b="1">
                <a:solidFill>
                  <a:srgbClr val="17242A"/>
                </a:solidFill>
              </a:rPr>
              <a:t>✓</a:t>
            </a:r>
          </a:p>
        </p:txBody>
      </p:sp>
      <p:sp>
        <p:nvSpPr>
          <p:cNvPr id="4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5CA588F4-2517-4A20-B600-3C1E3DB9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448050"/>
            <a:ext cx="971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42A"/>
                </a:solidFill>
              </a:defRPr>
            </a:pPr>
            <a:r>
              <a:rPr sz="1275" b="1">
                <a:solidFill>
                  <a:srgbClr val="17242A"/>
                </a:solidFill>
              </a:rPr>
              <a:t>Debrief</a:t>
            </a:r>
          </a:p>
          <a:p xmlns:a="http://schemas.openxmlformats.org/drawingml/2006/main">
            <a:pPr algn="ctr">
              <a:defRPr sz="1275" b="1">
                <a:solidFill>
                  <a:srgbClr val="17242A"/>
                </a:solidFill>
              </a:defRPr>
            </a:pPr>
            <a:r>
              <a:rPr sz="1275" b="1">
                <a:solidFill>
                  <a:srgbClr val="17242A"/>
                </a:solidFill>
              </a:rPr>
              <a:t>&amp; Finish</a:t>
            </a:r>
          </a:p>
        </p:txBody>
      </p:sp>
      <p:sp>
        <p:nvSpPr>
          <p:cNvPr id="41" name="detail-rule">
            <a:extLst xmlns:a="http://schemas.openxmlformats.org/drawingml/2006/main">
              <a:ext uri="{FF2B5EF4-FFF2-40B4-BE49-F238E27FC236}">
                <a16:creationId xmlns:a16="http://schemas.microsoft.com/office/drawing/2014/main" id="{194E67E9-C294-4ADF-A1E3-A52EBDEF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6DB"/>
            </a:solidFill>
            <a:prstDash val="solid"/>
          </a:ln>
        </p:spPr>
      </p:sp>
      <p:sp>
        <p:nvSpPr>
          <p:cNvPr id="42" name="per-scene-flow">
            <a:extLst xmlns:a="http://schemas.openxmlformats.org/drawingml/2006/main">
              <a:ext uri="{FF2B5EF4-FFF2-40B4-BE49-F238E27FC236}">
                <a16:creationId xmlns:a16="http://schemas.microsoft.com/office/drawing/2014/main" id="{B995C6DF-E7E9-4B5D-A3B5-C58300BA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73E"/>
                </a:solidFill>
              </a:defRPr>
            </a:pPr>
            <a:r>
              <a:rPr sz="1500" b="1">
                <a:solidFill>
                  <a:srgbClr val="26373E"/>
                </a:solidFill>
              </a:rPr>
              <a:t>Each scene: avatar task briefing  →  highlighted interaction  →  optional free exploration / conversation  →  post-scene measures</a:t>
            </a:r>
          </a:p>
        </p:txBody>
      </p:sp>
      <p:sp>
        <p:nvSpPr>
          <p:cNvPr id="43" name="scene-list">
            <a:extLst xmlns:a="http://schemas.openxmlformats.org/drawingml/2006/main">
              <a:ext uri="{FF2B5EF4-FFF2-40B4-BE49-F238E27FC236}">
                <a16:creationId xmlns:a16="http://schemas.microsoft.com/office/drawing/2014/main" id="{88EDA237-D766-4E62-9ACF-8284E094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48300"/>
            <a:ext cx="1040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2636B"/>
                </a:solidFill>
              </a:defRPr>
            </a:pPr>
            <a:r>
              <a:rPr sz="1350">
                <a:solidFill>
                  <a:srgbClr val="52636B"/>
                </a:solidFill>
              </a:rPr>
              <a:t>Randomized scenes: Lake  ·  Attic  ·  Puppies  ·  Solitary Confinement  ·  Tunnel  ·  Elephant</a:t>
            </a:r>
          </a:p>
        </p:txBody>
      </p:sp>
      <p:sp>
        <p:nvSpPr>
          <p:cNvPr id="44" name="footer">
            <a:extLst xmlns:a="http://schemas.openxmlformats.org/drawingml/2006/main">
              <a:ext uri="{FF2B5EF4-FFF2-40B4-BE49-F238E27FC236}">
                <a16:creationId xmlns:a16="http://schemas.microsoft.com/office/drawing/2014/main" id="{E295AEE1-E774-49A0-9FA2-E92D6DFE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198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73838A"/>
                </a:solidFill>
              </a:defRPr>
            </a:pPr>
            <a:r>
              <a:rPr sz="1200">
                <a:solidFill>
                  <a:srgbClr val="73838A"/>
                </a:solidFill>
              </a:rPr>
              <a:t>Context-aware sensing uses current gaze, held objects, interaction events, and nearby interactables during each User Trigger.</a:t>
            </a:r>
          </a:p>
        </p:txBody>
      </p:sp>
    </p:spTree>
    <p:extLst>
      <p:ext uri="{BB962C8B-B14F-4D97-AF65-F5344CB8AC3E}">
        <p14:creationId xmlns:p14="http://schemas.microsoft.com/office/powerpoint/2010/main" val="15464337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2026-07-22T00:25:07.3780000Z</dcterms:created>
  <dcterms:modified xsi:type="dcterms:W3CDTF">2026-07-22T00:25:07.3780000Z</dcterms:modified>
</coreProperties>
</file>